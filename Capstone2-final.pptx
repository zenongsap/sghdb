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4"/>
  </p:sldMasterIdLst>
  <p:notesMasterIdLst>
    <p:notesMasterId r:id="rId22"/>
  </p:notesMasterIdLst>
  <p:sldIdLst>
    <p:sldId id="257" r:id="rId5"/>
    <p:sldId id="312" r:id="rId6"/>
    <p:sldId id="313" r:id="rId7"/>
    <p:sldId id="268" r:id="rId8"/>
    <p:sldId id="317" r:id="rId9"/>
    <p:sldId id="314" r:id="rId10"/>
    <p:sldId id="316" r:id="rId11"/>
    <p:sldId id="320" r:id="rId12"/>
    <p:sldId id="321" r:id="rId13"/>
    <p:sldId id="319" r:id="rId14"/>
    <p:sldId id="322" r:id="rId15"/>
    <p:sldId id="326" r:id="rId16"/>
    <p:sldId id="330" r:id="rId17"/>
    <p:sldId id="324" r:id="rId18"/>
    <p:sldId id="327" r:id="rId19"/>
    <p:sldId id="328" r:id="rId20"/>
    <p:sldId id="32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56" y="-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59CE4-CE22-4476-81EB-EF9B9B788C27}" type="datetimeFigureOut">
              <a:rPr lang="en-SG" smtClean="0"/>
              <a:t>30/9/2025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D0DFA-1C16-449F-AC6A-F37E5B5B50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243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9C24-27DA-2DA6-D7EB-2080D9D4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FE96B-D1AB-2F4D-4603-85EB8C178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9B3EF-1F9B-B57D-68D1-72E999C2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3B785-56F6-3B58-DE50-69C0CB59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985EC-E938-AD77-48E6-A9C241F8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4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FD70-99A1-FB40-E557-A19E7DE4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60E6-56C8-BC10-7871-1D58CFC3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254B-3B19-0AB7-C28D-D7F1D992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8C84-B679-EF42-DDA5-EA487719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26752-4153-8DF1-234C-2F3C8C35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95DC9-9176-E3CE-9965-5C0BF55D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6133"/>
            <a:ext cx="12192000" cy="123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4D2B41-72F5-1429-62E0-C0FD0F5920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34257"/>
            <a:ext cx="12192000" cy="12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2CC2-4463-A51F-6F21-11AB5B4E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C321-7FD8-F193-5724-2533DD7D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3A894-8728-552E-1A49-BA06EB24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2D12E-0EFD-DED8-8FAF-62D9EFDD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901D3-5B29-CC46-098D-9F868B39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88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B48E-CD62-92ED-064A-1F031457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B1C7-4B39-F9FE-AFB9-8872C42E4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359DD-DCD2-0010-3C4B-CEA7AC668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84966-56BC-DD8B-85D6-A31DA253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B2960-E2EA-46B4-CAEB-E7A87B6C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96825-579A-C1E7-B1E6-B1C269A9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1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1972-30B1-13B4-D6D3-34FFA6F05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B6EDA-F4C4-F120-6E21-93AD55EB8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F9164-3977-3C8B-A62C-AF23F95CB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E5BC-367D-D9F5-37F0-2B7BE85C4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8F596-B53B-F49D-BD76-81DE71B96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F5367-A11E-3E33-8D30-FDF0B86F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FF928-1494-4129-3252-9EAAB222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CD75F-9786-16DA-4D16-DE8EAEB9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50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B7FC-1B89-43EC-5DEA-9C64560E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61EF6-CA7B-1F59-2419-81AEC817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48508-3F65-92ED-0366-01918D01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FE95C-D8AB-7B39-7924-B7DE9FF8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2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ADEAF-8B43-F5CA-0921-1FDEEB91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82AB2-7323-06A6-DEF0-7CE5FFEA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1AFD2-64E6-B284-8495-7BEE6D16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1BEA-4D9D-1D3E-CB44-DFE5334A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659C-A5FE-2689-D46F-CBF5199DE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8B47E-8618-DFB7-B25A-49AC9826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75B5-5135-3A84-CCD3-80BEBEF4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C0F0C-F1F2-F789-3120-61CEC2BD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3AC7B-2BF7-8B8F-CB1C-B0CCFFD9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9B31-0E4D-C5BF-E331-5D807B1E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7B8D2-6C11-6A64-BF2D-D1CCAB4D2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ED2BD-6E47-C9E8-9EC8-9657FA8B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638D6-E001-E05A-1597-44893183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CC012-B9E4-6DB2-7032-EE8C616D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0443-BCEA-CCF5-CE0E-D65ABE9D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8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FFA8-A40C-2660-5FF3-7E6DF608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3EF7B-D20C-7387-20A4-993D4F0A4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AC426-CFBF-C5C2-F42F-4DDD24E3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1A4D9-EC0C-7B94-2B19-AD8FAC1E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568CE-70FA-F0E1-4B27-84B7ED2D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7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07552-45DE-CFC4-4EE3-46D080B9F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30344-F43B-48F3-3705-2960F6673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F49B8-1029-1EA6-2408-63406A96A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0C238-5491-1ED0-1BAB-82921153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A2459-755A-20C5-808A-E7A635D7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5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FFC1B-9DEB-CBA4-910E-2F4BD999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5E817-4319-AF08-0B71-C6CD1BABB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727E9-0239-AFE4-67CB-5493501A5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22A19-4187-E4A0-A3CE-98ABDBCE3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A3D22-0699-13F9-1B63-DDB73C685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28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ata.gov.sg/collections/189/vie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2C404C-ECBD-043A-5CDC-5E15AFB8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351"/>
            <a:ext cx="12136544" cy="6839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553" y="900953"/>
            <a:ext cx="4516582" cy="2804182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Singapore HDB Resale Price Analysis </a:t>
            </a:r>
            <a:br>
              <a:rPr lang="en-US" sz="1200" dirty="0"/>
            </a:br>
            <a:br>
              <a:rPr lang="en-US" sz="1200" dirty="0"/>
            </a:br>
            <a:r>
              <a:rPr lang="en-SG" sz="1600" i="1" dirty="0"/>
              <a:t>Capstone 2 Project - </a:t>
            </a:r>
            <a:r>
              <a:rPr lang="en-US" sz="1600" i="1" dirty="0"/>
              <a:t>Data Analytics with AI</a:t>
            </a:r>
            <a:br>
              <a:rPr lang="en-SG" sz="1050" i="1" dirty="0"/>
            </a:b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3153" y="5481806"/>
            <a:ext cx="4226943" cy="343161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Ong Bee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Yian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>
                <a:solidFill>
                  <a:schemeClr val="tx1"/>
                </a:solidFill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4"/>
            <a:ext cx="9802227" cy="4856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Context</a:t>
            </a:r>
          </a:p>
          <a:p>
            <a:pPr marL="0" indent="0">
              <a:buNone/>
            </a:pPr>
            <a:r>
              <a:rPr lang="en-US" sz="1400" dirty="0"/>
              <a:t>Over 80% of Singapore residents live in HDB flats. Rising costs make housing a top national concern.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Stakeholder Needs : </a:t>
            </a:r>
          </a:p>
          <a:p>
            <a:r>
              <a:rPr lang="en-US" sz="1400" b="1" dirty="0"/>
              <a:t>Home Buyers and Property valuer : </a:t>
            </a:r>
            <a:r>
              <a:rPr lang="en-US" sz="1400" dirty="0"/>
              <a:t>Want to know if they are paying a fair price.</a:t>
            </a:r>
          </a:p>
          <a:p>
            <a:r>
              <a:rPr lang="en-SG" sz="1400" b="1" dirty="0"/>
              <a:t>Ministry of National Development (</a:t>
            </a:r>
            <a:r>
              <a:rPr lang="en-US" sz="1400" b="1" dirty="0"/>
              <a:t>MND) policy maker : </a:t>
            </a:r>
          </a:p>
          <a:p>
            <a:pPr marL="216000" indent="0">
              <a:buNone/>
            </a:pPr>
            <a:r>
              <a:rPr lang="en-US" sz="1400" dirty="0"/>
              <a:t>Need to track long-term affordability and intervene when necessary.</a:t>
            </a:r>
          </a:p>
          <a:p>
            <a:r>
              <a:rPr lang="en-US" sz="1400" b="1" dirty="0"/>
              <a:t>Property Investors/Agents: </a:t>
            </a:r>
            <a:r>
              <a:rPr lang="en-US" sz="1400" dirty="0"/>
              <a:t>Seek price forecasting for decision-making.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Proposed Solution :</a:t>
            </a:r>
          </a:p>
          <a:p>
            <a:pPr marL="0" indent="0">
              <a:buNone/>
            </a:pPr>
            <a:r>
              <a:rPr lang="en-US" sz="1400" dirty="0" err="1"/>
              <a:t>Streamlit</a:t>
            </a:r>
            <a:r>
              <a:rPr lang="en-US" sz="1400" dirty="0"/>
              <a:t> Data Product for Singapore HDB Resale Flat Analysis</a:t>
            </a:r>
            <a:endParaRPr lang="en-US" sz="1400" b="1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F3354-ECBE-7A62-33F4-5D5A4490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550" y="616884"/>
            <a:ext cx="3341580" cy="4666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9ED591-1F45-CAD3-9652-E5454806F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07" y="4891690"/>
            <a:ext cx="1292360" cy="78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5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>
                <a:solidFill>
                  <a:schemeClr val="tx1"/>
                </a:solidFill>
              </a:rPr>
              <a:t>Problem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5"/>
            <a:ext cx="9802227" cy="431531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342900" indent="-342900">
              <a:buFont typeface="+mj-lt"/>
              <a:buAutoNum type="arabicPeriod"/>
              <a:defRPr sz="1400">
                <a:solidFill>
                  <a:srgbClr val="000000"/>
                </a:solidFill>
              </a:defRPr>
            </a:pPr>
            <a:r>
              <a:rPr lang="en-US" sz="1400" b="1" dirty="0"/>
              <a:t>Complex Pricing Dynamics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Resale flat prices vary widely by location, flat type, age, and </a:t>
            </a:r>
            <a:r>
              <a:rPr lang="en-US" sz="1400" dirty="0" err="1"/>
              <a:t>storey</a:t>
            </a:r>
            <a:r>
              <a:rPr lang="en-US" sz="1400" dirty="0"/>
              <a:t> level.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Buyers and sellers lack transparent tools to assess fair value beyond historical averages.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342900" indent="-342900">
              <a:buFont typeface="+mj-lt"/>
              <a:buAutoNum type="arabicPeriod" startAt="2"/>
              <a:defRPr sz="1400">
                <a:solidFill>
                  <a:srgbClr val="000000"/>
                </a:solidFill>
              </a:defRPr>
            </a:pPr>
            <a:r>
              <a:rPr lang="en-US" sz="1400" b="1" dirty="0"/>
              <a:t>Decision-Making Gaps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</a:rPr>
              <a:t>Home buyers: Unsure whether a unit is overpriced or underpriced.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</a:rPr>
              <a:t>MND Policymakers: Need systematic insights to monitor housing affordability and guide policy.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</a:rPr>
              <a:t>Property Agents/Investors: Require reliable forecasts of future price movements to reduce risks.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1400" b="1" dirty="0"/>
              <a:t>3.      Current Limitations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</a:rPr>
              <a:t>Market information is fragmented (reports, word-of-mouth, property listings).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4570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Solution Proposal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9802227" cy="4856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err="1"/>
              <a:t>Streamlit</a:t>
            </a:r>
            <a:r>
              <a:rPr lang="en-US" sz="1400" dirty="0"/>
              <a:t>-powered solution featuring three AI/ML-driven solutions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D876B-D6B4-E948-916B-6FFF0DA34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11714"/>
              </p:ext>
            </p:extLst>
          </p:nvPr>
        </p:nvGraphicFramePr>
        <p:xfrm>
          <a:off x="616374" y="1426559"/>
          <a:ext cx="11432271" cy="523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786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1573858632"/>
                    </a:ext>
                  </a:extLst>
                </a:gridCol>
                <a:gridCol w="3057045">
                  <a:extLst>
                    <a:ext uri="{9D8B030D-6E8A-4147-A177-3AD203B41FA5}">
                      <a16:colId xmlns:a16="http://schemas.microsoft.com/office/drawing/2014/main" val="3439244193"/>
                    </a:ext>
                  </a:extLst>
                </a:gridCol>
              </a:tblGrid>
              <a:tr h="345540">
                <a:tc>
                  <a:txBody>
                    <a:bodyPr/>
                    <a:lstStyle/>
                    <a:p>
                      <a:r>
                        <a:rPr lang="en-SG" sz="1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Price Estimator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dirty="0"/>
                        <a:t>Market Segmentation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Trend 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777465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Home buyers need fair valuation.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Property Valuer need tool for valuation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MND Policymakers &amp; Property analysts need to understand affordability segments.</a:t>
                      </a:r>
                      <a:endParaRPr lang="en-SG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/>
                        <a:t>Property investors &amp; Property analysts want to anticipate price trends.</a:t>
                      </a:r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  <a:tr h="1698905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Model: </a:t>
                      </a:r>
                      <a:r>
                        <a:rPr lang="en-US" sz="1400" dirty="0" err="1"/>
                        <a:t>XGBoost</a:t>
                      </a:r>
                      <a:r>
                        <a:rPr lang="en-US" sz="1400" dirty="0"/>
                        <a:t> / Random Forest Regressor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Reason : 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Support Non-linearity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SG" sz="1400" dirty="0"/>
                        <a:t>Robust to outliers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SG" sz="1400" dirty="0"/>
                        <a:t>Handles categorical data with One-Hot Encoding and Mean Encoding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Model: K-Means Clustering (unsupervised)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Groups flats into affordability categories (e.g., low, medium, high).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400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Reason : 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Interpretable each segment 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Balance of accuracy, scalability, and interpretability.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Model: Prophet / LSTM (time series).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Forecast price by town or flat type.</a:t>
                      </a:r>
                    </a:p>
                    <a:p>
                      <a:pPr marL="0" indent="0">
                        <a:buNone/>
                      </a:pPr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SG" sz="1400" baseline="0" dirty="0">
                          <a:solidFill>
                            <a:schemeClr val="tx1"/>
                          </a:solidFill>
                        </a:rPr>
                        <a:t>Reason :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Prophet : Ease of use, interpretability, and business-ready forecasts.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LSTM : Capture complex, non-linear time patterns when high accuracy is critical.</a:t>
                      </a:r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413087"/>
                  </a:ext>
                </a:extLst>
              </a:tr>
              <a:tr h="488276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</a:t>
                      </a:r>
                    </a:p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RMSE, MAE, R²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Silhouette score, cluster interpretability.</a:t>
                      </a:r>
                      <a:endParaRPr lang="en-SG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RMSE, MAPE</a:t>
                      </a:r>
                    </a:p>
                    <a:p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483208"/>
                  </a:ext>
                </a:extLst>
              </a:tr>
              <a:tr h="1020390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Interactive form 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User input : Flat type, floor area, town, </a:t>
                      </a:r>
                      <a:r>
                        <a:rPr lang="en-US" sz="1400" dirty="0" err="1"/>
                        <a:t>storey</a:t>
                      </a:r>
                      <a:r>
                        <a:rPr lang="en-US" sz="1400" dirty="0"/>
                        <a:t>, age.</a:t>
                      </a:r>
                    </a:p>
                    <a:p>
                      <a:pPr marL="144000" lvl="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Output: Predicted resale price.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Interactive form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User input : Town, flat type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Output: 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/>
                        <a:t>Market Segments Overview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/>
                        <a:t>Geographic Distribution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/>
                        <a:t>Price Distribution by Flat Type</a:t>
                      </a:r>
                      <a:endParaRPr lang="en-SG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Interactive trend chart 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User input :  Town, flat type Forecast Horizon (Months)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SG" sz="1400" baseline="0" dirty="0">
                          <a:solidFill>
                            <a:schemeClr val="tx1"/>
                          </a:solidFill>
                        </a:rPr>
                        <a:t>Output : Price Forecast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49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2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E752-7D6B-076E-B082-E3E9FFFA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02"/>
            <a:ext cx="10515600" cy="1325563"/>
          </a:xfrm>
        </p:spPr>
        <p:txBody>
          <a:bodyPr>
            <a:normAutofit/>
          </a:bodyPr>
          <a:lstStyle/>
          <a:p>
            <a:r>
              <a:rPr lang="en-SG" sz="2800" b="1" dirty="0"/>
              <a:t>Data Product Design (Prototype)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14FEDC-1B47-3FEE-7F77-FEC93880AA7B}"/>
              </a:ext>
            </a:extLst>
          </p:cNvPr>
          <p:cNvSpPr txBox="1">
            <a:spLocks/>
          </p:cNvSpPr>
          <p:nvPr/>
        </p:nvSpPr>
        <p:spPr>
          <a:xfrm>
            <a:off x="469950" y="1039993"/>
            <a:ext cx="1808747" cy="467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600" b="1" i="1" dirty="0"/>
              <a:t>Price Estimator</a:t>
            </a:r>
            <a:endParaRPr lang="en-SG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 </a:t>
            </a: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988A12-6909-B500-3C8F-361F45D772BA}"/>
              </a:ext>
            </a:extLst>
          </p:cNvPr>
          <p:cNvSpPr txBox="1">
            <a:spLocks/>
          </p:cNvSpPr>
          <p:nvPr/>
        </p:nvSpPr>
        <p:spPr>
          <a:xfrm>
            <a:off x="7720425" y="989568"/>
            <a:ext cx="1808747" cy="467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600" b="1" i="1" dirty="0"/>
              <a:t>Market Insights</a:t>
            </a:r>
            <a:endParaRPr lang="en-SG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 </a:t>
            </a: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A15272-9715-0BD1-250C-B2CB13F731F4}"/>
              </a:ext>
            </a:extLst>
          </p:cNvPr>
          <p:cNvSpPr txBox="1">
            <a:spLocks/>
          </p:cNvSpPr>
          <p:nvPr/>
        </p:nvSpPr>
        <p:spPr>
          <a:xfrm>
            <a:off x="4108773" y="1039993"/>
            <a:ext cx="2595076" cy="467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600" b="1" i="1" dirty="0"/>
              <a:t>Trend Forecasting</a:t>
            </a:r>
            <a:endParaRPr lang="en-SG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 </a:t>
            </a: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C64E8B-4239-BCD6-4A42-3F1763220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474" y="1321079"/>
            <a:ext cx="3361174" cy="4803424"/>
          </a:xfrm>
          <a:ln w="12700" cmpd="sng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E4A524-8866-922F-F18D-2880FA11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003" y="1321079"/>
            <a:ext cx="3671093" cy="511744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81489-84B1-14A1-E998-5DBA0CC2C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646" y="1321079"/>
            <a:ext cx="4187145" cy="48203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644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737F77D-CD22-D770-95FA-2DEA8BFA1DB6}"/>
              </a:ext>
            </a:extLst>
          </p:cNvPr>
          <p:cNvSpPr/>
          <p:nvPr/>
        </p:nvSpPr>
        <p:spPr>
          <a:xfrm>
            <a:off x="7812568" y="1463740"/>
            <a:ext cx="4303558" cy="27414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858A82F-3CE4-2C19-EE03-FDBC6F3DEA6E}"/>
              </a:ext>
            </a:extLst>
          </p:cNvPr>
          <p:cNvSpPr/>
          <p:nvPr/>
        </p:nvSpPr>
        <p:spPr>
          <a:xfrm>
            <a:off x="9970744" y="1968876"/>
            <a:ext cx="1879366" cy="213520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5E596F-B1F7-81AC-874B-F07BC6AD4345}"/>
              </a:ext>
            </a:extLst>
          </p:cNvPr>
          <p:cNvSpPr/>
          <p:nvPr/>
        </p:nvSpPr>
        <p:spPr>
          <a:xfrm>
            <a:off x="3395765" y="1957496"/>
            <a:ext cx="4303558" cy="2247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System Architecture 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5"/>
            <a:ext cx="9802227" cy="4315316"/>
          </a:xfrm>
        </p:spPr>
        <p:txBody>
          <a:bodyPr>
            <a:noAutofit/>
          </a:bodyPr>
          <a:lstStyle/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4BC196-4787-6386-EDD9-47ACD7DFCE13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1321217" y="2644971"/>
            <a:ext cx="454745" cy="1318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C6E41A-DDD9-6134-03B0-E361D35AC82A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077458" y="2644971"/>
            <a:ext cx="53653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84D6D6-4A2A-D3A2-F34E-826C0EA7FC73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312704" y="2634927"/>
            <a:ext cx="704926" cy="74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73FADE-2A7E-3A13-EF0F-2635FA33B926}"/>
              </a:ext>
            </a:extLst>
          </p:cNvPr>
          <p:cNvCxnSpPr>
            <a:cxnSpLocks/>
          </p:cNvCxnSpPr>
          <p:nvPr/>
        </p:nvCxnSpPr>
        <p:spPr>
          <a:xfrm>
            <a:off x="4932162" y="2622917"/>
            <a:ext cx="57054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CE105A-CE66-CE13-71A6-99D17BBD4C74}"/>
              </a:ext>
            </a:extLst>
          </p:cNvPr>
          <p:cNvSpPr txBox="1"/>
          <p:nvPr/>
        </p:nvSpPr>
        <p:spPr>
          <a:xfrm>
            <a:off x="10042733" y="2023732"/>
            <a:ext cx="1627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    Data Product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87DCA-1BBC-CC6E-8BA5-44F99D4FF037}"/>
              </a:ext>
            </a:extLst>
          </p:cNvPr>
          <p:cNvSpPr txBox="1"/>
          <p:nvPr/>
        </p:nvSpPr>
        <p:spPr>
          <a:xfrm>
            <a:off x="3613994" y="1613541"/>
            <a:ext cx="1627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Data Lake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86F37-77BA-1588-8221-749B02033FE4}"/>
              </a:ext>
            </a:extLst>
          </p:cNvPr>
          <p:cNvSpPr txBox="1"/>
          <p:nvPr/>
        </p:nvSpPr>
        <p:spPr>
          <a:xfrm>
            <a:off x="5767722" y="1588575"/>
            <a:ext cx="178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Data Warehouse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FBD5D9-C512-7255-9F42-A12EBD7A9A55}"/>
              </a:ext>
            </a:extLst>
          </p:cNvPr>
          <p:cNvSpPr/>
          <p:nvPr/>
        </p:nvSpPr>
        <p:spPr>
          <a:xfrm>
            <a:off x="1775962" y="2253462"/>
            <a:ext cx="1301496" cy="783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/>
              <a:t>Data Modelling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9940F6-C149-5951-359A-84D6A9566FA9}"/>
              </a:ext>
            </a:extLst>
          </p:cNvPr>
          <p:cNvSpPr/>
          <p:nvPr/>
        </p:nvSpPr>
        <p:spPr>
          <a:xfrm>
            <a:off x="3613994" y="2253462"/>
            <a:ext cx="1301496" cy="783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/>
              <a:t>EDA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4CF4C1-00C0-AA10-BCCE-73752CC3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323" y="2333265"/>
            <a:ext cx="1292360" cy="783018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6C266A-87B5-AA1F-6DC3-58F991E1EFBC}"/>
              </a:ext>
            </a:extLst>
          </p:cNvPr>
          <p:cNvSpPr/>
          <p:nvPr/>
        </p:nvSpPr>
        <p:spPr>
          <a:xfrm>
            <a:off x="5482086" y="2243418"/>
            <a:ext cx="1830618" cy="783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/>
              <a:t>Data</a:t>
            </a:r>
          </a:p>
          <a:p>
            <a:pPr algn="ctr"/>
            <a:r>
              <a:rPr lang="en-SG" sz="1600" b="1" dirty="0"/>
              <a:t>Transformation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DF86AA-3991-28F4-F6E4-E6011D64AF0F}"/>
              </a:ext>
            </a:extLst>
          </p:cNvPr>
          <p:cNvSpPr txBox="1"/>
          <p:nvPr/>
        </p:nvSpPr>
        <p:spPr>
          <a:xfrm>
            <a:off x="295007" y="1542421"/>
            <a:ext cx="1627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Data Source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CF2C02-4E64-B4FA-5EF5-E3335068E8F1}"/>
              </a:ext>
            </a:extLst>
          </p:cNvPr>
          <p:cNvSpPr txBox="1"/>
          <p:nvPr/>
        </p:nvSpPr>
        <p:spPr>
          <a:xfrm>
            <a:off x="9913487" y="1564871"/>
            <a:ext cx="2454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 Service Layer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00E2AAC-5889-968B-E175-9C22E2E3E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58" y="3474736"/>
            <a:ext cx="2191056" cy="514422"/>
          </a:xfrm>
          <a:prstGeom prst="rect">
            <a:avLst/>
          </a:prstGeom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AB78775-5303-4B25-2C46-0BDCD8F6878A}"/>
              </a:ext>
            </a:extLst>
          </p:cNvPr>
          <p:cNvSpPr/>
          <p:nvPr/>
        </p:nvSpPr>
        <p:spPr>
          <a:xfrm>
            <a:off x="4386558" y="3438435"/>
            <a:ext cx="2191056" cy="608045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D88DA0-458B-41D0-5B00-A7C7DE9CA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13" y="2182342"/>
            <a:ext cx="934961" cy="9426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32099DF-D236-9FD5-0340-5DE9832EF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157" y="3318592"/>
            <a:ext cx="714475" cy="70494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E7274BF-FD6D-1B27-AEAD-63604FEDA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9643" y="3382137"/>
            <a:ext cx="1084289" cy="50671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9516E68-5165-A5A2-7CE1-CA3DE31A2675}"/>
              </a:ext>
            </a:extLst>
          </p:cNvPr>
          <p:cNvSpPr txBox="1"/>
          <p:nvPr/>
        </p:nvSpPr>
        <p:spPr>
          <a:xfrm>
            <a:off x="1607713" y="4322115"/>
            <a:ext cx="18348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</a:t>
            </a:r>
            <a:r>
              <a:rPr lang="en-US" sz="1400" u="none" strike="noStrike" kern="1200" dirty="0">
                <a:effectLst/>
              </a:rPr>
              <a:t>ata models</a:t>
            </a:r>
            <a:endParaRPr lang="en-SG" sz="1400" u="none" strike="noStrike" dirty="0">
              <a:effectLst/>
            </a:endParaRPr>
          </a:p>
          <a:p>
            <a:pPr marL="144000" marR="0" indent="-144000" algn="l" rtl="0" eaLnBrk="1" fontAlgn="auto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u="none" strike="noStrike" kern="1200" dirty="0">
                <a:effectLst/>
              </a:rPr>
              <a:t>Conceptual</a:t>
            </a:r>
          </a:p>
          <a:p>
            <a:pPr marL="144000" marR="0" indent="-144000" algn="l" rtl="0" eaLnBrk="1" fontAlgn="auto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u="none" strike="noStrike" kern="1200" dirty="0">
                <a:effectLst/>
              </a:rPr>
              <a:t>Logical</a:t>
            </a:r>
          </a:p>
          <a:p>
            <a:pPr marL="144000" marR="0" indent="-144000" algn="l" rtl="0" eaLnBrk="1" fontAlgn="auto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u="none" strike="noStrike" kern="1200" dirty="0">
                <a:effectLst/>
              </a:rPr>
              <a:t>Physical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D377ED-8861-ED93-A175-5B8268FD80B0}"/>
              </a:ext>
            </a:extLst>
          </p:cNvPr>
          <p:cNvSpPr txBox="1"/>
          <p:nvPr/>
        </p:nvSpPr>
        <p:spPr>
          <a:xfrm>
            <a:off x="3493095" y="4342844"/>
            <a:ext cx="18694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kern="1200" dirty="0">
                <a:effectLst/>
              </a:rPr>
              <a:t>Perform Exploratory   </a:t>
            </a: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kern="1200" dirty="0">
                <a:effectLst/>
              </a:rPr>
              <a:t>Data Analysis </a:t>
            </a: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kern="1200" dirty="0">
                <a:effectLst/>
              </a:rPr>
              <a:t>to understand trends </a:t>
            </a: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kern="1200" dirty="0">
                <a:effectLst/>
              </a:rPr>
              <a:t>and outliers.</a:t>
            </a:r>
            <a:endParaRPr lang="en-SG" sz="1400" u="none" strike="noStrike" dirty="0"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F19476-AE00-364B-60B5-B53EBA2E73EF}"/>
              </a:ext>
            </a:extLst>
          </p:cNvPr>
          <p:cNvSpPr txBox="1"/>
          <p:nvPr/>
        </p:nvSpPr>
        <p:spPr>
          <a:xfrm>
            <a:off x="5905875" y="4354682"/>
            <a:ext cx="18694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Clean, format, and restructure data for analytics.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BEE324-5A00-2EDD-02D6-802B5B3B5CC0}"/>
              </a:ext>
            </a:extLst>
          </p:cNvPr>
          <p:cNvSpPr/>
          <p:nvPr/>
        </p:nvSpPr>
        <p:spPr>
          <a:xfrm>
            <a:off x="8000261" y="1952095"/>
            <a:ext cx="1733036" cy="213520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E092DF-A266-6CA5-1115-8502453E7348}"/>
              </a:ext>
            </a:extLst>
          </p:cNvPr>
          <p:cNvCxnSpPr>
            <a:cxnSpLocks/>
          </p:cNvCxnSpPr>
          <p:nvPr/>
        </p:nvCxnSpPr>
        <p:spPr>
          <a:xfrm flipV="1">
            <a:off x="9734261" y="2642420"/>
            <a:ext cx="301792" cy="30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01AE4A-7131-A193-B246-7F1EB8970DFE}"/>
              </a:ext>
            </a:extLst>
          </p:cNvPr>
          <p:cNvSpPr txBox="1"/>
          <p:nvPr/>
        </p:nvSpPr>
        <p:spPr>
          <a:xfrm>
            <a:off x="9074541" y="1059735"/>
            <a:ext cx="1936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Local Environment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20836D-0703-E112-4271-27EA57FB2C75}"/>
              </a:ext>
            </a:extLst>
          </p:cNvPr>
          <p:cNvSpPr/>
          <p:nvPr/>
        </p:nvSpPr>
        <p:spPr>
          <a:xfrm>
            <a:off x="8049218" y="2266648"/>
            <a:ext cx="1581099" cy="7830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600" b="1" dirty="0"/>
              <a:t>App Development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F61BA7-E4FB-B3C6-39C9-A5988083AF38}"/>
              </a:ext>
            </a:extLst>
          </p:cNvPr>
          <p:cNvSpPr txBox="1"/>
          <p:nvPr/>
        </p:nvSpPr>
        <p:spPr>
          <a:xfrm>
            <a:off x="8035507" y="1558597"/>
            <a:ext cx="178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 Development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58D2A30-14FD-B2EE-70CB-C918A0F3E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663" y="3211739"/>
            <a:ext cx="781406" cy="77741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870DD7D-BCE6-48C1-781D-3F4A875A5EFE}"/>
              </a:ext>
            </a:extLst>
          </p:cNvPr>
          <p:cNvSpPr txBox="1"/>
          <p:nvPr/>
        </p:nvSpPr>
        <p:spPr>
          <a:xfrm>
            <a:off x="8035507" y="4390683"/>
            <a:ext cx="2766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/>
              <a:t>Version Control : NYP GitLab</a:t>
            </a:r>
            <a:endParaRPr lang="en-US" sz="1400" u="none" strike="noStrike" kern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074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Data Source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4DD1992-337C-7E67-636D-90EA35777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5"/>
            <a:ext cx="9802227" cy="3868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1400" dirty="0">
                <a:solidFill>
                  <a:srgbClr val="000000"/>
                </a:solidFill>
              </a:rPr>
              <a:t>HDB data obtained from </a:t>
            </a:r>
            <a:r>
              <a:rPr lang="en-SG" dirty="0">
                <a:hlinkClick r:id="rId2"/>
              </a:rPr>
              <a:t>Resale Flat Prices | HDB | data.gov.sg</a:t>
            </a: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endParaRPr lang="en-SG" dirty="0"/>
          </a:p>
          <a:p>
            <a:pPr marL="457200" lvl="1" indent="0">
              <a:buNone/>
              <a:defRPr sz="1400">
                <a:solidFill>
                  <a:srgbClr val="000000"/>
                </a:solidFill>
              </a:defRPr>
            </a:pPr>
            <a:r>
              <a:rPr lang="en-SG" dirty="0"/>
              <a:t>To get HDB data from 2012 to 2025 from the 3 files. </a:t>
            </a:r>
            <a:endParaRPr lang="en-US" sz="1400" dirty="0">
              <a:solidFill>
                <a:srgbClr val="000000"/>
              </a:solidFill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5370F0-4D43-1032-39DA-21DE001CCA45}"/>
              </a:ext>
            </a:extLst>
          </p:cNvPr>
          <p:cNvSpPr/>
          <p:nvPr/>
        </p:nvSpPr>
        <p:spPr>
          <a:xfrm>
            <a:off x="802640" y="1867300"/>
            <a:ext cx="5598160" cy="784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C5E14-CE8D-6FD4-5B14-9A6DA345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806" y="1914590"/>
            <a:ext cx="4165628" cy="2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7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Data Preprocessing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5A4495-1C07-A698-1A78-B8E722C0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5"/>
            <a:ext cx="9802227" cy="4315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Data Preprocessing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2CB3B3-6EF2-A326-DB91-5597B10C4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125382"/>
              </p:ext>
            </p:extLst>
          </p:nvPr>
        </p:nvGraphicFramePr>
        <p:xfrm>
          <a:off x="844227" y="1569670"/>
          <a:ext cx="8160292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441">
                  <a:extLst>
                    <a:ext uri="{9D8B030D-6E8A-4147-A177-3AD203B41FA5}">
                      <a16:colId xmlns:a16="http://schemas.microsoft.com/office/drawing/2014/main" val="4194221495"/>
                    </a:ext>
                  </a:extLst>
                </a:gridCol>
                <a:gridCol w="1701019">
                  <a:extLst>
                    <a:ext uri="{9D8B030D-6E8A-4147-A177-3AD203B41FA5}">
                      <a16:colId xmlns:a16="http://schemas.microsoft.com/office/drawing/2014/main" val="2037268908"/>
                    </a:ext>
                  </a:extLst>
                </a:gridCol>
                <a:gridCol w="5887832">
                  <a:extLst>
                    <a:ext uri="{9D8B030D-6E8A-4147-A177-3AD203B41FA5}">
                      <a16:colId xmlns:a16="http://schemas.microsoft.com/office/drawing/2014/main" val="323054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Step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Category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Detail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00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SG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 Data</a:t>
                      </a:r>
                      <a:endParaRPr lang="en-SG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Load CSV files from a Snowflake stage into pandas </a:t>
                      </a:r>
                      <a:r>
                        <a:rPr lang="en-US" sz="1400" dirty="0" err="1"/>
                        <a:t>DataFrames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0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New Field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Derive AGE column from REMAINING_LEASE or LEASE_COMMENCE_DATE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Split 'MONTH' column into 'YEAR' and 'MONTH_NUM' </a:t>
                      </a:r>
                      <a:endParaRPr lang="en-SG" sz="1400" dirty="0"/>
                    </a:p>
                    <a:p>
                      <a:r>
                        <a:rPr lang="en-US" sz="1400" dirty="0"/>
                        <a:t> 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25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Clean Data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Clean text columns (uppercase conversion and </a:t>
                      </a:r>
                      <a:r>
                        <a:rPr lang="en-US" sz="1400" dirty="0" err="1"/>
                        <a:t>NaN</a:t>
                      </a:r>
                      <a:r>
                        <a:rPr lang="en-US" sz="1400" dirty="0"/>
                        <a:t> handling) 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126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Filtering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Filter unnecessary columns and ensure column consistency 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9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Combine Data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Combine all cleaned CSV files into a single </a:t>
                      </a:r>
                      <a:r>
                        <a:rPr lang="en-US" sz="1400" dirty="0" err="1"/>
                        <a:t>DataFrame</a:t>
                      </a:r>
                      <a:r>
                        <a:rPr lang="en-US" sz="1400" dirty="0"/>
                        <a:t> 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46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Remove Duplicate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 for and remove duplicate rows 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854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Create Silver table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Save the final cleaned dataset to a Snowflake table (default: HDB_SILVER)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7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4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Data Transformation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5A4495-1C07-A698-1A78-B8E722C0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5"/>
            <a:ext cx="9802227" cy="4315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Data Transformation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7B77A3-BAD4-B79D-820C-FFAAE52C7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63113"/>
              </p:ext>
            </p:extLst>
          </p:nvPr>
        </p:nvGraphicFramePr>
        <p:xfrm>
          <a:off x="844226" y="1569670"/>
          <a:ext cx="10037133" cy="3284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870">
                  <a:extLst>
                    <a:ext uri="{9D8B030D-6E8A-4147-A177-3AD203B41FA5}">
                      <a16:colId xmlns:a16="http://schemas.microsoft.com/office/drawing/2014/main" val="4194221495"/>
                    </a:ext>
                  </a:extLst>
                </a:gridCol>
                <a:gridCol w="2092248">
                  <a:extLst>
                    <a:ext uri="{9D8B030D-6E8A-4147-A177-3AD203B41FA5}">
                      <a16:colId xmlns:a16="http://schemas.microsoft.com/office/drawing/2014/main" val="2037268908"/>
                    </a:ext>
                  </a:extLst>
                </a:gridCol>
                <a:gridCol w="7242015">
                  <a:extLst>
                    <a:ext uri="{9D8B030D-6E8A-4147-A177-3AD203B41FA5}">
                      <a16:colId xmlns:a16="http://schemas.microsoft.com/office/drawing/2014/main" val="3230548137"/>
                    </a:ext>
                  </a:extLst>
                </a:gridCol>
              </a:tblGrid>
              <a:tr h="277711">
                <a:tc>
                  <a:txBody>
                    <a:bodyPr/>
                    <a:lstStyle/>
                    <a:p>
                      <a:r>
                        <a:rPr lang="en-US" sz="1400" dirty="0"/>
                        <a:t>Step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Category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Detail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004984"/>
                  </a:ext>
                </a:extLst>
              </a:tr>
              <a:tr h="472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SG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Clean Data</a:t>
                      </a:r>
                      <a:endParaRPr lang="en-SG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rows with FLAT_TYPE = ['MULTI GENERATION', '1 ROOM', '2 ROOM'] and Remove FLAT_MODEL column   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08543"/>
                  </a:ext>
                </a:extLst>
              </a:tr>
              <a:tr h="47210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Outlier Handling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Caps RESALE_PRICE values at 0.5th and 99.5th percentiles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Create new field IS_OUTLIERS to identify outliers. To use this field for forecasting feature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254982"/>
                  </a:ext>
                </a:extLst>
              </a:tr>
              <a:tr h="124969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Feature Engineering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Creates new derived features:                                                                        </a:t>
                      </a:r>
                    </a:p>
                    <a:p>
                      <a:r>
                        <a:rPr lang="en-SG" sz="1400" dirty="0"/>
                        <a:t>- AGE_GROUP: Bucketized age bins                                                                   </a:t>
                      </a:r>
                    </a:p>
                    <a:p>
                      <a:r>
                        <a:rPr lang="en-SG" sz="1400" dirty="0"/>
                        <a:t>- PRICE_TIER: Quantile-based price segmentation                                                    </a:t>
                      </a:r>
                    </a:p>
                    <a:p>
                      <a:r>
                        <a:rPr lang="en-SG" sz="1400" dirty="0"/>
                        <a:t>- SEASON: Quarter (Q1–Q4) from MONTH_NUM                                                           </a:t>
                      </a:r>
                    </a:p>
                    <a:p>
                      <a:r>
                        <a:rPr lang="en-SG" sz="1400" dirty="0"/>
                        <a:t>- STOREY_NUMERIC: Midpoint of STOREY_RANGE                                                         </a:t>
                      </a:r>
                    </a:p>
                    <a:p>
                      <a:r>
                        <a:rPr lang="en-SG" sz="1400" dirty="0"/>
                        <a:t>- PRICE_PER_SQM: Price per square meter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126745"/>
                  </a:ext>
                </a:extLst>
              </a:tr>
              <a:tr h="571343">
                <a:tc>
                  <a:txBody>
                    <a:bodyPr/>
                    <a:lstStyle/>
                    <a:p>
                      <a:pPr algn="ctr"/>
                      <a:r>
                        <a:rPr lang="en-SG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Create Gold table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Save the final dataset to a GOLD table</a:t>
                      </a:r>
                      <a:endParaRPr lang="en-SG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755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831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Price Estimator 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11019402" cy="5332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Strategy </a:t>
            </a:r>
          </a:p>
          <a:p>
            <a:pPr marL="0" indent="0">
              <a:buNone/>
            </a:pPr>
            <a:r>
              <a:rPr lang="en-US" sz="1400" dirty="0"/>
              <a:t>1 )  Train with 20K data for different model with hyperparameter tuning via </a:t>
            </a:r>
            <a:r>
              <a:rPr lang="en-US" sz="1400" dirty="0" err="1"/>
              <a:t>GridSearch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2 ) Try Data </a:t>
            </a:r>
            <a:r>
              <a:rPr lang="en-SG" sz="1400" dirty="0"/>
              <a:t>Transformation with Bayesian Optimization to obtain best parameter</a:t>
            </a:r>
          </a:p>
          <a:p>
            <a:pPr marL="0" indent="0"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3 ) </a:t>
            </a:r>
            <a:r>
              <a:rPr lang="en-SG" sz="1400" dirty="0"/>
              <a:t>F</a:t>
            </a:r>
            <a:r>
              <a:rPr lang="en-SG" sz="1400" baseline="0" dirty="0">
                <a:solidFill>
                  <a:schemeClr val="tx1"/>
                </a:solidFill>
              </a:rPr>
              <a:t>iltering </a:t>
            </a:r>
            <a:r>
              <a:rPr lang="en-SG" sz="1400" baseline="0" dirty="0" err="1">
                <a:solidFill>
                  <a:schemeClr val="tx1"/>
                </a:solidFill>
              </a:rPr>
              <a:t>Outiners</a:t>
            </a:r>
            <a:r>
              <a:rPr lang="en-SG" sz="1400" baseline="0" dirty="0">
                <a:solidFill>
                  <a:schemeClr val="tx1"/>
                </a:solidFill>
              </a:rPr>
              <a:t> and varying column ( </a:t>
            </a:r>
            <a:r>
              <a:rPr lang="en-SG" sz="1400" baseline="0" dirty="0" err="1">
                <a:solidFill>
                  <a:schemeClr val="tx1"/>
                </a:solidFill>
              </a:rPr>
              <a:t>i.e</a:t>
            </a:r>
            <a:r>
              <a:rPr lang="en-SG" sz="1400" baseline="0" dirty="0">
                <a:solidFill>
                  <a:schemeClr val="tx1"/>
                </a:solidFill>
              </a:rPr>
              <a:t> include AGE column)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D876B-D6B4-E948-916B-6FFF0DA34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44220"/>
              </p:ext>
            </p:extLst>
          </p:nvPr>
        </p:nvGraphicFramePr>
        <p:xfrm>
          <a:off x="984318" y="1809029"/>
          <a:ext cx="1052018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60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1296672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1080560">
                  <a:extLst>
                    <a:ext uri="{9D8B030D-6E8A-4147-A177-3AD203B41FA5}">
                      <a16:colId xmlns:a16="http://schemas.microsoft.com/office/drawing/2014/main" val="1573858632"/>
                    </a:ext>
                  </a:extLst>
                </a:gridCol>
                <a:gridCol w="1121082">
                  <a:extLst>
                    <a:ext uri="{9D8B030D-6E8A-4147-A177-3AD203B41FA5}">
                      <a16:colId xmlns:a16="http://schemas.microsoft.com/office/drawing/2014/main" val="3439244193"/>
                    </a:ext>
                  </a:extLst>
                </a:gridCol>
                <a:gridCol w="1161602">
                  <a:extLst>
                    <a:ext uri="{9D8B030D-6E8A-4147-A177-3AD203B41FA5}">
                      <a16:colId xmlns:a16="http://schemas.microsoft.com/office/drawing/2014/main" val="2332124881"/>
                    </a:ext>
                  </a:extLst>
                </a:gridCol>
                <a:gridCol w="4799012">
                  <a:extLst>
                    <a:ext uri="{9D8B030D-6E8A-4147-A177-3AD203B41FA5}">
                      <a16:colId xmlns:a16="http://schemas.microsoft.com/office/drawing/2014/main" val="1078541896"/>
                    </a:ext>
                  </a:extLst>
                </a:gridCol>
              </a:tblGrid>
              <a:tr h="408037">
                <a:tc>
                  <a:txBody>
                    <a:bodyPr/>
                    <a:lstStyle/>
                    <a:p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dirty="0" err="1"/>
                        <a:t>XGBoost</a:t>
                      </a:r>
                      <a:r>
                        <a:rPr lang="en-SG" sz="1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LightGBM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Weighted Ensemble Evaluation for XGB,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LightGBM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CatBoost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590528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R²: 0.8573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R²: 0.8897</a:t>
                      </a:r>
                      <a:endParaRPr lang="en-US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R²: 0.8853</a:t>
                      </a:r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R²: 0.8944</a:t>
                      </a:r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0.7 *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</a:rPr>
                        <a:t>pred_cat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+ 0.2 *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</a:rPr>
                        <a:t>pred_xgb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+ 0.1 *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</a:rPr>
                        <a:t>pred_lgb</a:t>
                      </a:r>
                      <a:endParaRPr lang="en-US" sz="14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>
                        <a:spcBef>
                          <a:spcPts val="600"/>
                        </a:spcBef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R²: 0.9079</a:t>
                      </a:r>
                      <a:endParaRPr lang="en-SG" sz="1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FDFEF6-D0A9-1E67-E07F-397A37B00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24227"/>
              </p:ext>
            </p:extLst>
          </p:nvPr>
        </p:nvGraphicFramePr>
        <p:xfrm>
          <a:off x="984318" y="4809840"/>
          <a:ext cx="6073305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295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1278913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3663097">
                  <a:extLst>
                    <a:ext uri="{9D8B030D-6E8A-4147-A177-3AD203B41FA5}">
                      <a16:colId xmlns:a16="http://schemas.microsoft.com/office/drawing/2014/main" val="1376471913"/>
                    </a:ext>
                  </a:extLst>
                </a:gridCol>
              </a:tblGrid>
              <a:tr h="442221">
                <a:tc>
                  <a:txBody>
                    <a:bodyPr/>
                    <a:lstStyle/>
                    <a:p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20K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Complete data 295K record 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Training 60%, Validation 20%, Testing 20%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465608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dirty="0"/>
                        <a:t>R²: </a:t>
                      </a: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0.936</a:t>
                      </a: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1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R²: 0.954</a:t>
                      </a:r>
                      <a:endParaRPr lang="en-SG" sz="1400" b="1" baseline="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E73C6A-2F4E-AE17-E198-ABA3FA5BC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476123"/>
              </p:ext>
            </p:extLst>
          </p:nvPr>
        </p:nvGraphicFramePr>
        <p:xfrm>
          <a:off x="984318" y="3444860"/>
          <a:ext cx="7180893" cy="907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758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1120462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1416676">
                  <a:extLst>
                    <a:ext uri="{9D8B030D-6E8A-4147-A177-3AD203B41FA5}">
                      <a16:colId xmlns:a16="http://schemas.microsoft.com/office/drawing/2014/main" val="1573858632"/>
                    </a:ext>
                  </a:extLst>
                </a:gridCol>
                <a:gridCol w="3296997">
                  <a:extLst>
                    <a:ext uri="{9D8B030D-6E8A-4147-A177-3AD203B41FA5}">
                      <a16:colId xmlns:a16="http://schemas.microsoft.com/office/drawing/2014/main" val="1376471913"/>
                    </a:ext>
                  </a:extLst>
                </a:gridCol>
              </a:tblGrid>
              <a:tr h="442221">
                <a:tc>
                  <a:txBody>
                    <a:bodyPr/>
                    <a:lstStyle/>
                    <a:p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Box-Cox </a:t>
                      </a:r>
                      <a:endParaRPr lang="en-SG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Yeo-Johnson </a:t>
                      </a:r>
                      <a:endParaRPr lang="en-S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Inverse Transformation (Current)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465608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R²: 0.9276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R²: 0.9277</a:t>
                      </a:r>
                      <a:endParaRPr lang="en-US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R²: 0.9284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2D8AFE-8926-AB23-A53D-EA7FF39B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938771"/>
              </p:ext>
            </p:extLst>
          </p:nvPr>
        </p:nvGraphicFramePr>
        <p:xfrm>
          <a:off x="9392370" y="3312654"/>
          <a:ext cx="2112136" cy="1249680"/>
        </p:xfrm>
        <a:graphic>
          <a:graphicData uri="http://schemas.openxmlformats.org/drawingml/2006/table">
            <a:tbl>
              <a:tblPr/>
              <a:tblGrid>
                <a:gridCol w="1066595">
                  <a:extLst>
                    <a:ext uri="{9D8B030D-6E8A-4147-A177-3AD203B41FA5}">
                      <a16:colId xmlns:a16="http://schemas.microsoft.com/office/drawing/2014/main" val="419375311"/>
                    </a:ext>
                  </a:extLst>
                </a:gridCol>
                <a:gridCol w="1045541">
                  <a:extLst>
                    <a:ext uri="{9D8B030D-6E8A-4147-A177-3AD203B41FA5}">
                      <a16:colId xmlns:a16="http://schemas.microsoft.com/office/drawing/2014/main" val="22403665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Proportion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436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SG" sz="1400" dirty="0"/>
                        <a:t>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0108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SG" sz="1400" dirty="0"/>
                        <a:t>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709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SG" sz="1400" dirty="0"/>
                        <a:t>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687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142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Market Segmentation (1/3)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9802227" cy="5332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Strategy </a:t>
            </a:r>
          </a:p>
          <a:p>
            <a:pPr marL="0" indent="0">
              <a:buNone/>
            </a:pPr>
            <a:r>
              <a:rPr lang="en-US" sz="1400" dirty="0"/>
              <a:t>1 )  Train with 20K data for different model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D876B-D6B4-E948-916B-6FFF0DA34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718595"/>
              </p:ext>
            </p:extLst>
          </p:nvPr>
        </p:nvGraphicFramePr>
        <p:xfrm>
          <a:off x="965242" y="1904440"/>
          <a:ext cx="10619548" cy="3303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51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2601585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1278479">
                  <a:extLst>
                    <a:ext uri="{9D8B030D-6E8A-4147-A177-3AD203B41FA5}">
                      <a16:colId xmlns:a16="http://schemas.microsoft.com/office/drawing/2014/main" val="1573858632"/>
                    </a:ext>
                  </a:extLst>
                </a:gridCol>
                <a:gridCol w="2558564">
                  <a:extLst>
                    <a:ext uri="{9D8B030D-6E8A-4147-A177-3AD203B41FA5}">
                      <a16:colId xmlns:a16="http://schemas.microsoft.com/office/drawing/2014/main" val="3439244193"/>
                    </a:ext>
                  </a:extLst>
                </a:gridCol>
                <a:gridCol w="3194769">
                  <a:extLst>
                    <a:ext uri="{9D8B030D-6E8A-4147-A177-3AD203B41FA5}">
                      <a16:colId xmlns:a16="http://schemas.microsoft.com/office/drawing/2014/main" val="3832178800"/>
                    </a:ext>
                  </a:extLst>
                </a:gridCol>
              </a:tblGrid>
              <a:tr h="651709">
                <a:tc>
                  <a:txBody>
                    <a:bodyPr/>
                    <a:lstStyle/>
                    <a:p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K-Means </a:t>
                      </a:r>
                    </a:p>
                    <a:p>
                      <a:r>
                        <a:rPr lang="en-SG" sz="1400" b="1" i="1" dirty="0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dirty="0"/>
                        <a:t>GMM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 DBSCAN 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HDBSCAN 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Clustering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2555826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</a:p>
                    <a:p>
                      <a:r>
                        <a:rPr lang="en-SG" sz="1400" dirty="0"/>
                        <a:t>Silhouette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1. Initial run : 0.2242 </a:t>
                      </a:r>
                      <a:br>
                        <a:rPr lang="en-SG" sz="1400" dirty="0"/>
                      </a:br>
                      <a:r>
                        <a:rPr lang="en-SG" sz="1400" dirty="0"/>
                        <a:t>2. Dimensionality reduction and best K mean : 0.3265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3. 2 and include feature ‘AGE_GROUP’ : 0.3359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4. Hyperparameter fine-tuning : 0.3513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5. With Bayesian Optimization : 0.3888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6. Remove Outliners, combine features : 0.3625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Initial run with Bayesian Optimization : 0.0063  </a:t>
                      </a:r>
                      <a:endParaRPr lang="en-US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dirty="0"/>
                        <a:t>1. Initial run with Bayesian Optimization : </a:t>
                      </a:r>
                      <a:r>
                        <a:rPr lang="en-SG" sz="1400" b="0" dirty="0"/>
                        <a:t>0.4530</a:t>
                      </a:r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0" baseline="0" dirty="0">
                          <a:solidFill>
                            <a:schemeClr val="tx1"/>
                          </a:solidFill>
                        </a:rPr>
                        <a:t>2. Found duplicate regressor used AGE and AGE_GROUP. Update and score </a:t>
                      </a:r>
                      <a:r>
                        <a:rPr lang="en-SG" sz="1400" b="1" dirty="0"/>
                        <a:t>&lt;  0.3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+ UMAP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dirty="0"/>
                    </a:p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SG" sz="1400" b="1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SG" sz="1400" dirty="0"/>
                        <a:t>Initial run with Bayesian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dirty="0"/>
                        <a:t>Optimization : </a:t>
                      </a:r>
                      <a:r>
                        <a:rPr lang="en-SG" sz="1400" b="0" dirty="0"/>
                        <a:t>0.437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SG" sz="1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SG" sz="1400" b="0" dirty="0"/>
                        <a:t>2. </a:t>
                      </a:r>
                      <a:r>
                        <a:rPr lang="en-SG" sz="1400" b="0" dirty="0" err="1"/>
                        <a:t>Umap</a:t>
                      </a:r>
                      <a:r>
                        <a:rPr lang="en-SG" sz="1400" b="0" dirty="0"/>
                        <a:t> : </a:t>
                      </a:r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0.4373 &gt;  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High imbalance of cluster. 1 big many small.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endParaRPr lang="en-US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3. Reduced cluster count from 68 to 18 </a:t>
                      </a:r>
                      <a:endParaRPr lang="en-SG" sz="14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DDA46D-306B-77B6-F940-4D2B980C4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577138"/>
              </p:ext>
            </p:extLst>
          </p:nvPr>
        </p:nvGraphicFramePr>
        <p:xfrm>
          <a:off x="8576348" y="4148481"/>
          <a:ext cx="2797791" cy="769620"/>
        </p:xfrm>
        <a:graphic>
          <a:graphicData uri="http://schemas.openxmlformats.org/drawingml/2006/table">
            <a:tbl>
              <a:tblPr/>
              <a:tblGrid>
                <a:gridCol w="1516697">
                  <a:extLst>
                    <a:ext uri="{9D8B030D-6E8A-4147-A177-3AD203B41FA5}">
                      <a16:colId xmlns:a16="http://schemas.microsoft.com/office/drawing/2014/main" val="419375311"/>
                    </a:ext>
                  </a:extLst>
                </a:gridCol>
                <a:gridCol w="1281094">
                  <a:extLst>
                    <a:ext uri="{9D8B030D-6E8A-4147-A177-3AD203B41FA5}">
                      <a16:colId xmlns:a16="http://schemas.microsoft.com/office/drawing/2014/main" val="224036651"/>
                    </a:ext>
                  </a:extLst>
                </a:gridCol>
              </a:tblGrid>
              <a:tr h="121375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Cluster count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 err="1"/>
                        <a:t>Sihouette</a:t>
                      </a:r>
                      <a:r>
                        <a:rPr lang="en-SG" sz="1200" dirty="0"/>
                        <a:t> Score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0.4366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0108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0.0085 - 0.1733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70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A37CBA-B762-F450-AF6C-4D89FE4D1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019432"/>
              </p:ext>
            </p:extLst>
          </p:nvPr>
        </p:nvGraphicFramePr>
        <p:xfrm>
          <a:off x="5905338" y="4352817"/>
          <a:ext cx="2412233" cy="457200"/>
        </p:xfrm>
        <a:graphic>
          <a:graphicData uri="http://schemas.openxmlformats.org/drawingml/2006/table">
            <a:tbl>
              <a:tblPr/>
              <a:tblGrid>
                <a:gridCol w="1128084">
                  <a:extLst>
                    <a:ext uri="{9D8B030D-6E8A-4147-A177-3AD203B41FA5}">
                      <a16:colId xmlns:a16="http://schemas.microsoft.com/office/drawing/2014/main" val="419375311"/>
                    </a:ext>
                  </a:extLst>
                </a:gridCol>
                <a:gridCol w="1284149">
                  <a:extLst>
                    <a:ext uri="{9D8B030D-6E8A-4147-A177-3AD203B41FA5}">
                      <a16:colId xmlns:a16="http://schemas.microsoft.com/office/drawing/2014/main" val="224036651"/>
                    </a:ext>
                  </a:extLst>
                </a:gridCol>
              </a:tblGrid>
              <a:tr h="121375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Cluster count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Sihouette</a:t>
                      </a:r>
                      <a:r>
                        <a:rPr lang="en-SG" sz="1200" dirty="0"/>
                        <a:t> Score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420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01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1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Market Segmentation (2/3)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9802227" cy="5332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Strategy </a:t>
            </a:r>
          </a:p>
          <a:p>
            <a:pPr marL="0" indent="0">
              <a:buNone/>
            </a:pPr>
            <a:r>
              <a:rPr lang="en-US" sz="1400" dirty="0"/>
              <a:t>2 ) Scaler Comparison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3 ) Vary feature combination (AGE, PRICE_PER_SQM, MEAN RESALE_PRICE,  MEAN FLOOR_AREA_SQM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US" sz="1400" dirty="0"/>
              <a:t>4 ) Hybrid (HDBSCAN + K-Mean)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E45EB1-E585-AC3D-297A-D845E5AE4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368359"/>
              </p:ext>
            </p:extLst>
          </p:nvPr>
        </p:nvGraphicFramePr>
        <p:xfrm>
          <a:off x="936091" y="3725430"/>
          <a:ext cx="10568415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686">
                  <a:extLst>
                    <a:ext uri="{9D8B030D-6E8A-4147-A177-3AD203B41FA5}">
                      <a16:colId xmlns:a16="http://schemas.microsoft.com/office/drawing/2014/main" val="3351855465"/>
                    </a:ext>
                  </a:extLst>
                </a:gridCol>
                <a:gridCol w="3145094">
                  <a:extLst>
                    <a:ext uri="{9D8B030D-6E8A-4147-A177-3AD203B41FA5}">
                      <a16:colId xmlns:a16="http://schemas.microsoft.com/office/drawing/2014/main" val="1806422205"/>
                    </a:ext>
                  </a:extLst>
                </a:gridCol>
                <a:gridCol w="5348635">
                  <a:extLst>
                    <a:ext uri="{9D8B030D-6E8A-4147-A177-3AD203B41FA5}">
                      <a16:colId xmlns:a16="http://schemas.microsoft.com/office/drawing/2014/main" val="2990566169"/>
                    </a:ext>
                  </a:extLst>
                </a:gridCol>
              </a:tblGrid>
              <a:tr h="236860">
                <a:tc>
                  <a:txBody>
                    <a:bodyPr/>
                    <a:lstStyle/>
                    <a:p>
                      <a:r>
                        <a:rPr lang="en-SG" sz="1400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Iteration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dirty="0"/>
                        <a:t>Final (50K record)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515722"/>
                  </a:ext>
                </a:extLst>
              </a:tr>
              <a:tr h="568463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</a:p>
                    <a:p>
                      <a:pPr marL="72000" indent="-1080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Silhouette Score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dirty="0"/>
                        <a:t>  (to be maximized)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b="0" dirty="0"/>
                    </a:p>
                    <a:p>
                      <a:pPr marL="72000" indent="-1080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Davies–Bouldin Index (to be minimized)</a:t>
                      </a:r>
                    </a:p>
                    <a:p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HDBSCAN clustering on combined features.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UMAP after clustering for dimensionality reduction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 err="1"/>
                        <a:t>KMeans</a:t>
                      </a:r>
                      <a:r>
                        <a:rPr lang="en-US" sz="1400" dirty="0"/>
                        <a:t> for final clustering.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SG" sz="1400" dirty="0"/>
                        <a:t>Map noise points to nearest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SG" sz="1400" b="1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SG" sz="1400" b="1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HDBSCAN as pre-filter to filter noise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Feature weighting  (Optimized)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SVD for Numeric, UMAP for categorical (Optimized)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Multi-metric scoring (</a:t>
                      </a:r>
                      <a:r>
                        <a:rPr lang="fr-FR" sz="1400" dirty="0"/>
                        <a:t>2×Silhouette−Davies–</a:t>
                      </a:r>
                      <a:r>
                        <a:rPr lang="fr-FR" sz="1400" dirty="0" err="1"/>
                        <a:t>Bouldin</a:t>
                      </a:r>
                      <a:r>
                        <a:rPr lang="fr-FR" sz="1400" dirty="0"/>
                        <a:t>)</a:t>
                      </a:r>
                      <a:endParaRPr lang="en-US" sz="1400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400" dirty="0"/>
                        <a:t>Noise handling (Penalized, integrated during each optimization and evaluated)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Silhouette score: 0.5847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Davies–Bouldin score: 0.7197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Number of clusters: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397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D6E7F5-1278-7139-2D9F-594F6156B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294224"/>
              </p:ext>
            </p:extLst>
          </p:nvPr>
        </p:nvGraphicFramePr>
        <p:xfrm>
          <a:off x="936091" y="1830701"/>
          <a:ext cx="7976564" cy="1098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9645">
                  <a:extLst>
                    <a:ext uri="{9D8B030D-6E8A-4147-A177-3AD203B41FA5}">
                      <a16:colId xmlns:a16="http://schemas.microsoft.com/office/drawing/2014/main" val="1841484631"/>
                    </a:ext>
                  </a:extLst>
                </a:gridCol>
                <a:gridCol w="1780944">
                  <a:extLst>
                    <a:ext uri="{9D8B030D-6E8A-4147-A177-3AD203B41FA5}">
                      <a16:colId xmlns:a16="http://schemas.microsoft.com/office/drawing/2014/main" val="2772021670"/>
                    </a:ext>
                  </a:extLst>
                </a:gridCol>
                <a:gridCol w="1509568">
                  <a:extLst>
                    <a:ext uri="{9D8B030D-6E8A-4147-A177-3AD203B41FA5}">
                      <a16:colId xmlns:a16="http://schemas.microsoft.com/office/drawing/2014/main" val="1435581538"/>
                    </a:ext>
                  </a:extLst>
                </a:gridCol>
                <a:gridCol w="1841672">
                  <a:extLst>
                    <a:ext uri="{9D8B030D-6E8A-4147-A177-3AD203B41FA5}">
                      <a16:colId xmlns:a16="http://schemas.microsoft.com/office/drawing/2014/main" val="3366669162"/>
                    </a:ext>
                  </a:extLst>
                </a:gridCol>
                <a:gridCol w="1315023">
                  <a:extLst>
                    <a:ext uri="{9D8B030D-6E8A-4147-A177-3AD203B41FA5}">
                      <a16:colId xmlns:a16="http://schemas.microsoft.com/office/drawing/2014/main" val="3053418383"/>
                    </a:ext>
                  </a:extLst>
                </a:gridCol>
                <a:gridCol w="1009712">
                  <a:extLst>
                    <a:ext uri="{9D8B030D-6E8A-4147-A177-3AD203B41FA5}">
                      <a16:colId xmlns:a16="http://schemas.microsoft.com/office/drawing/2014/main" val="2200624030"/>
                    </a:ext>
                  </a:extLst>
                </a:gridCol>
              </a:tblGrid>
              <a:tr h="197974">
                <a:tc>
                  <a:txBody>
                    <a:bodyPr/>
                    <a:lstStyle/>
                    <a:p>
                      <a:pPr algn="ctr" fontAlgn="ctr"/>
                      <a:endParaRPr lang="en-SG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Scaler Comparison</a:t>
                      </a: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Silhouette</a:t>
                      </a: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Davies_bouldin</a:t>
                      </a:r>
                      <a:endParaRPr lang="en-SG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Noise_rate</a:t>
                      </a:r>
                      <a:endParaRPr lang="en-SG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N_clusters</a:t>
                      </a:r>
                      <a:endParaRPr lang="en-SG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4266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0.421557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0.946168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038151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0.338788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1.223549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50767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Quantile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0.234283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1.661894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0.5965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811761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Robust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0.16573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1.666164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704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06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Market Segmentation (3/3)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20AF7-05C2-60C5-1775-8F42ECCB2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87923"/>
            <a:ext cx="7051040" cy="53329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DF66E2-1C60-829A-ED63-04AF9DCE8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493" y="1125309"/>
            <a:ext cx="3768987" cy="3955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A7762A-6820-2777-39C6-FEF30F75A44A}"/>
              </a:ext>
            </a:extLst>
          </p:cNvPr>
          <p:cNvSpPr txBox="1"/>
          <p:nvPr/>
        </p:nvSpPr>
        <p:spPr>
          <a:xfrm>
            <a:off x="7538720" y="4855528"/>
            <a:ext cx="4074160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Silhouette score: 0.5847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Davies–Bouldin score: 0.7197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Number of clusters: 5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distribution: -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0: 11155 points (22.3%)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1: 12497 points (25.0%)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2: 12479 points (25.0%)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3: 3702 points (7.4%) 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Cluster 4: 10167 points (20.3%) </a:t>
            </a:r>
          </a:p>
          <a:p>
            <a:endParaRPr lang="en-SG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8464F90-EDA7-5105-961E-BEAB82017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74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Forecasting (1/3)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9802227" cy="5332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Strategy </a:t>
            </a:r>
          </a:p>
          <a:p>
            <a:pPr marL="0" indent="0">
              <a:buNone/>
            </a:pPr>
            <a:r>
              <a:rPr lang="en-US" sz="1400" dirty="0"/>
              <a:t>1 )  Train with split time of all dataset for different model with hyperparameter tuning </a:t>
            </a:r>
            <a:r>
              <a:rPr lang="en-SG" sz="1400" dirty="0"/>
              <a:t>with Bayesian Optimization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2 ) Use </a:t>
            </a:r>
            <a:r>
              <a:rPr lang="en-US" sz="1400" dirty="0" err="1"/>
              <a:t>CatBoost</a:t>
            </a:r>
            <a:r>
              <a:rPr lang="en-US" sz="1400" dirty="0"/>
              <a:t> via </a:t>
            </a:r>
            <a:r>
              <a:rPr lang="en-SG" sz="1400" baseline="0" dirty="0">
                <a:solidFill>
                  <a:schemeClr val="tx1"/>
                </a:solidFill>
              </a:rPr>
              <a:t>Bayesian Optimization to obtain best parameter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1400" dirty="0" err="1"/>
              <a:t>Backtesting</a:t>
            </a:r>
            <a:r>
              <a:rPr lang="en-US" sz="1400" dirty="0"/>
              <a:t> 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MAPE 1.788471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MAPE : 1.33%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 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D876B-D6B4-E948-916B-6FFF0DA34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03895"/>
              </p:ext>
            </p:extLst>
          </p:nvPr>
        </p:nvGraphicFramePr>
        <p:xfrm>
          <a:off x="719578" y="1932637"/>
          <a:ext cx="10959923" cy="4126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931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4961397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5143595">
                  <a:extLst>
                    <a:ext uri="{9D8B030D-6E8A-4147-A177-3AD203B41FA5}">
                      <a16:colId xmlns:a16="http://schemas.microsoft.com/office/drawing/2014/main" val="1573858632"/>
                    </a:ext>
                  </a:extLst>
                </a:gridCol>
              </a:tblGrid>
              <a:tr h="408037">
                <a:tc>
                  <a:txBody>
                    <a:bodyPr/>
                    <a:lstStyle/>
                    <a:p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i="1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1" dirty="0"/>
                        <a:t>Prophet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590528">
                <a:tc>
                  <a:txBody>
                    <a:bodyPr/>
                    <a:lstStyle/>
                    <a:p>
                      <a:r>
                        <a:rPr lang="en-SG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Numeric_features</a:t>
                      </a:r>
                      <a:r>
                        <a:rPr lang="en-US" sz="1400" dirty="0"/>
                        <a:t> = [    'price', '</a:t>
                      </a:r>
                      <a:r>
                        <a:rPr lang="en-US" sz="1400" dirty="0" err="1"/>
                        <a:t>price_volatility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transaction_volume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avg_floor_area</a:t>
                      </a:r>
                      <a:r>
                        <a:rPr lang="en-US" sz="1400" dirty="0"/>
                        <a:t>',    '</a:t>
                      </a:r>
                      <a:r>
                        <a:rPr lang="en-US" sz="1400" dirty="0" err="1"/>
                        <a:t>avg_age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avg_storey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outlier_count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outlier_ratio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market_stress</a:t>
                      </a:r>
                      <a:r>
                        <a:rPr lang="en-US" sz="1400" dirty="0"/>
                        <a:t>',    'price_ma_3', 'price_ma_6', 'price_ma_12', '</a:t>
                      </a:r>
                      <a:r>
                        <a:rPr lang="en-US" sz="1400" dirty="0" err="1"/>
                        <a:t>price_trend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price_change_pct</a:t>
                      </a:r>
                      <a:r>
                        <a:rPr lang="en-US" sz="1400" dirty="0"/>
                        <a:t>',    'year', 'month', 'quarter', '</a:t>
                      </a:r>
                      <a:r>
                        <a:rPr lang="en-US" sz="1400" dirty="0" err="1"/>
                        <a:t>is_year_end</a:t>
                      </a:r>
                      <a:r>
                        <a:rPr lang="en-US" sz="1400" dirty="0"/>
                        <a:t>’]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Categorical_features</a:t>
                      </a:r>
                      <a:r>
                        <a:rPr lang="en-US" sz="1400" dirty="0"/>
                        <a:t> = ['TOWN', 'FLAT_TYPE', 'AGE_GROUP', 'PRICE_TIER', 'SEASON’]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3.42% ( Data : Train 75% , Validate 15%, Testing 15%)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1. Same regressors as LSTM &gt; 2.03%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2. </a:t>
                      </a:r>
                      <a:r>
                        <a:rPr lang="en-SG" sz="1400" dirty="0" err="1"/>
                        <a:t>Derived_regressors</a:t>
                      </a:r>
                      <a:r>
                        <a:rPr lang="en-SG" sz="1400" dirty="0"/>
                        <a:t>  = ['</a:t>
                      </a:r>
                      <a:r>
                        <a:rPr lang="en-SG" sz="1400" dirty="0" err="1"/>
                        <a:t>price_volatility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transaction_volume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avg_floor_area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avg_age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avg_storey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outlier_count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outlier_ratio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market_stress</a:t>
                      </a:r>
                      <a:r>
                        <a:rPr lang="en-SG" sz="1400" dirty="0"/>
                        <a:t>’]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Explicit_regressors</a:t>
                      </a:r>
                      <a:r>
                        <a:rPr lang="en-SG" sz="1400" dirty="0"/>
                        <a:t> = ['</a:t>
                      </a:r>
                      <a:r>
                        <a:rPr lang="en-SG" sz="1400" dirty="0" err="1"/>
                        <a:t>TOWN_encoded</a:t>
                      </a:r>
                      <a:r>
                        <a:rPr lang="en-SG" sz="1400" dirty="0"/>
                        <a:t>', '</a:t>
                      </a:r>
                      <a:r>
                        <a:rPr lang="en-SG" sz="1400" dirty="0" err="1"/>
                        <a:t>FLAT_TYPE_encoded</a:t>
                      </a:r>
                      <a:r>
                        <a:rPr lang="en-SG" sz="1400" dirty="0"/>
                        <a:t>', 'AGE', 'STOREY_NUMERIC', 'FLOOR_AREA_SQM’]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400" i="1" baseline="0" dirty="0">
                          <a:solidFill>
                            <a:schemeClr val="tx1"/>
                          </a:solidFill>
                        </a:rPr>
                        <a:t>1.33% </a:t>
                      </a:r>
                      <a:r>
                        <a:rPr lang="en-SG" sz="1400" dirty="0"/>
                        <a:t>( Data : Train 75% , Validate 15%, Testing 15%)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400" b="1" dirty="0">
                          <a:solidFill>
                            <a:schemeClr val="accent1"/>
                          </a:solidFill>
                        </a:rPr>
                        <a:t>0.63%( </a:t>
                      </a:r>
                      <a:r>
                        <a:rPr lang="en-SG" sz="1400" dirty="0"/>
                        <a:t>Data : Train 80% , Validate 10%, Testing 10%)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i="1" baseline="0" dirty="0" err="1">
                          <a:solidFill>
                            <a:schemeClr val="tx1"/>
                          </a:solidFill>
                        </a:rPr>
                        <a:t>Streamlit</a:t>
                      </a:r>
                      <a:r>
                        <a:rPr lang="en-SG" sz="1400" i="1" baseline="0" dirty="0">
                          <a:solidFill>
                            <a:schemeClr val="tx1"/>
                          </a:solidFill>
                        </a:rPr>
                        <a:t> App forecasting </a:t>
                      </a:r>
                      <a:r>
                        <a:rPr lang="en-SG" sz="1400" b="1" i="1" baseline="0" dirty="0">
                          <a:solidFill>
                            <a:schemeClr val="accent1"/>
                          </a:solidFill>
                        </a:rPr>
                        <a:t>give flat line,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400" i="1" baseline="0" dirty="0">
                          <a:solidFill>
                            <a:schemeClr val="tx1"/>
                          </a:solidFill>
                        </a:rPr>
                        <a:t>Could be due to </a:t>
                      </a:r>
                      <a:r>
                        <a:rPr lang="en-US" sz="1400" dirty="0"/>
                        <a:t>Missing or incorrect regressor values.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Prophet model is being overly conservative due to hyperparameters or regressor handling.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SG" sz="1400" i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CF91888-0267-6734-2FC9-40517467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6E6AF1-CE3E-2D90-7DEF-44C8CEB5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4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Forecasting (2/3)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4"/>
            <a:ext cx="6353839" cy="401183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Strategy </a:t>
            </a:r>
          </a:p>
          <a:p>
            <a:pPr marL="0" indent="0">
              <a:buNone/>
            </a:pPr>
            <a:r>
              <a:rPr lang="en-US" sz="1400" dirty="0"/>
              <a:t>2 ) Vary different regressor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Final Prophet model with 8 regressors.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900" dirty="0">
                <a:latin typeface="menlo"/>
              </a:rPr>
              <a:t>‘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price_volatility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', 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transaction_volume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', 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avg_floor_area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', 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avg_age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', 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avg_storey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', 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market_stress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’,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'price_ma_3', 'price_ma_6']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400" dirty="0"/>
              <a:t>MAPE = </a:t>
            </a:r>
            <a:r>
              <a:rPr lang="en-US" sz="1400" b="1" dirty="0">
                <a:solidFill>
                  <a:schemeClr val="accent1"/>
                </a:solidFill>
              </a:rPr>
              <a:t>2.69%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sz="1400" dirty="0"/>
              <a:t> 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F91888-0267-6734-2FC9-40517467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6E6AF1-CE3E-2D90-7DEF-44C8CEB5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99F2D-7793-9519-4E65-E24A57CCD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525" y="367099"/>
            <a:ext cx="5978101" cy="600920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995533-9B9B-9331-3169-7E832AF2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82955"/>
              </p:ext>
            </p:extLst>
          </p:nvPr>
        </p:nvGraphicFramePr>
        <p:xfrm>
          <a:off x="914398" y="1895138"/>
          <a:ext cx="4495802" cy="1409700"/>
        </p:xfrm>
        <a:graphic>
          <a:graphicData uri="http://schemas.openxmlformats.org/drawingml/2006/table">
            <a:tbl>
              <a:tblPr/>
              <a:tblGrid>
                <a:gridCol w="1317173">
                  <a:extLst>
                    <a:ext uri="{9D8B030D-6E8A-4147-A177-3AD203B41FA5}">
                      <a16:colId xmlns:a16="http://schemas.microsoft.com/office/drawing/2014/main" val="2047108105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56084682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3033909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Option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Regressors Used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1" dirty="0"/>
                        <a:t>Remark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Lowest RMSE for most Town/</a:t>
                      </a:r>
                      <a:r>
                        <a:rPr lang="en-SG" sz="1200" dirty="0" err="1"/>
                        <a:t>Flat_type</a:t>
                      </a:r>
                      <a:r>
                        <a:rPr lang="en-SG" sz="1200" dirty="0"/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0108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High </a:t>
                      </a:r>
                      <a:r>
                        <a:rPr lang="en-SG" sz="1200" dirty="0" err="1"/>
                        <a:t>Flexibity</a:t>
                      </a:r>
                      <a:endParaRPr lang="en-SG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Volatility, Volume, </a:t>
                      </a:r>
                      <a:r>
                        <a:rPr lang="en-SG" sz="1200" dirty="0" err="1"/>
                        <a:t>Avg</a:t>
                      </a:r>
                      <a:r>
                        <a:rPr lang="en-SG" sz="1200" dirty="0"/>
                        <a:t> 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Similar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709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Key Regressors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 err="1"/>
                        <a:t>Avg</a:t>
                      </a:r>
                      <a:r>
                        <a:rPr lang="en-SG" sz="1200" dirty="0"/>
                        <a:t> Age,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SG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7499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90AA340B-9559-223E-5537-6637D96D9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8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ML training – Forecasting (3/3)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42204"/>
            <a:ext cx="9802227" cy="5313142"/>
          </a:xfrm>
        </p:spPr>
        <p:txBody>
          <a:bodyPr>
            <a:noAutofit/>
          </a:bodyPr>
          <a:lstStyle/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altLang="en-US" sz="1600" b="1" dirty="0" err="1"/>
              <a:t>Backtesting</a:t>
            </a:r>
            <a:r>
              <a:rPr lang="en-US" altLang="en-US" sz="1600" b="1" dirty="0"/>
              <a:t> Strategy 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altLang="en-US" sz="1600" b="1" dirty="0">
              <a:solidFill>
                <a:srgbClr val="000000"/>
              </a:solidFill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r>
              <a:rPr lang="en-US" altLang="en-US" sz="1600" b="1" dirty="0" err="1">
                <a:solidFill>
                  <a:srgbClr val="000000"/>
                </a:solidFill>
              </a:rPr>
              <a:t>Backtesting</a:t>
            </a:r>
            <a:r>
              <a:rPr lang="en-US" altLang="en-US" sz="1600" b="1" dirty="0">
                <a:solidFill>
                  <a:srgbClr val="000000"/>
                </a:solidFill>
              </a:rPr>
              <a:t> and Final Test</a:t>
            </a: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F91888-0267-6734-2FC9-40517467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6E6AF1-CE3E-2D90-7DEF-44C8CEB51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72634A-80DE-2899-D63E-0C0CFA92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846" y="2402967"/>
            <a:ext cx="790685" cy="3905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C4319F-030F-EA98-6ACF-B5A98BE1B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265" y="2752222"/>
            <a:ext cx="104790" cy="1000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46BE90-0F08-A44F-0132-A1B6B646C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458" y="2977944"/>
            <a:ext cx="106925" cy="10002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67CF17D-3B22-DF90-67BB-547C533EE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23024"/>
              </p:ext>
            </p:extLst>
          </p:nvPr>
        </p:nvGraphicFramePr>
        <p:xfrm>
          <a:off x="771637" y="3679578"/>
          <a:ext cx="6235283" cy="260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053">
                  <a:extLst>
                    <a:ext uri="{9D8B030D-6E8A-4147-A177-3AD203B41FA5}">
                      <a16:colId xmlns:a16="http://schemas.microsoft.com/office/drawing/2014/main" val="3968448834"/>
                    </a:ext>
                  </a:extLst>
                </a:gridCol>
                <a:gridCol w="1914521">
                  <a:extLst>
                    <a:ext uri="{9D8B030D-6E8A-4147-A177-3AD203B41FA5}">
                      <a16:colId xmlns:a16="http://schemas.microsoft.com/office/drawing/2014/main" val="4046455301"/>
                    </a:ext>
                  </a:extLst>
                </a:gridCol>
                <a:gridCol w="2423709">
                  <a:extLst>
                    <a:ext uri="{9D8B030D-6E8A-4147-A177-3AD203B41FA5}">
                      <a16:colId xmlns:a16="http://schemas.microsoft.com/office/drawing/2014/main" val="478455307"/>
                    </a:ext>
                  </a:extLst>
                </a:gridCol>
              </a:tblGrid>
              <a:tr h="199740">
                <a:tc>
                  <a:txBody>
                    <a:bodyPr/>
                    <a:lstStyle/>
                    <a:p>
                      <a:r>
                        <a:rPr lang="en-SG" sz="10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1" i="1" dirty="0" err="1"/>
                        <a:t>Backtesting</a:t>
                      </a:r>
                      <a:endParaRPr lang="en-SG" sz="1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b="1" i="1" dirty="0"/>
                        <a:t>Final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4223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dirty="0"/>
                        <a:t>Stability, drift, robustness</a:t>
                      </a:r>
                      <a:endParaRPr lang="en-SG" sz="1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00" dirty="0"/>
                        <a:t>Final performance snapshot</a:t>
                      </a:r>
                      <a:endParaRPr lang="en-SG" sz="1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504080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Initial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Entire dataset </a:t>
                      </a:r>
                      <a:r>
                        <a:rPr lang="en-US" sz="1000" b="1" dirty="0"/>
                        <a:t>except</a:t>
                      </a:r>
                      <a:r>
                        <a:rPr lang="en-US" sz="1000" dirty="0"/>
                        <a:t> last 6 months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(Feb 2013 – Feb 2025)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714462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 months/training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18095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Final 6 months (Mar 2025 – Aug 2025)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75364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Rolling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months forward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854993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r>
                        <a:rPr lang="en-SG" sz="1000" dirty="0"/>
                        <a:t>Total </a:t>
                      </a:r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251247"/>
                  </a:ext>
                </a:extLst>
              </a:tr>
              <a:tr h="199740">
                <a:tc>
                  <a:txBody>
                    <a:bodyPr/>
                    <a:lstStyle/>
                    <a:p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Final Training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Feb 2013 – Oct 2024 (141M)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307348"/>
                  </a:ext>
                </a:extLst>
              </a:tr>
              <a:tr h="251599">
                <a:tc>
                  <a:txBody>
                    <a:bodyPr/>
                    <a:lstStyle/>
                    <a:p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Final Validation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 2024 – Apr 2025 (6M)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66174"/>
                  </a:ext>
                </a:extLst>
              </a:tr>
              <a:tr h="251599">
                <a:tc>
                  <a:txBody>
                    <a:bodyPr/>
                    <a:lstStyle/>
                    <a:p>
                      <a:r>
                        <a:rPr lang="en-SG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876048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961F538-878E-1D29-B753-2C06C517C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37" y="1563285"/>
            <a:ext cx="6925642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8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3D6-D5D7-D929-8E40-CAD983CE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436881"/>
            <a:ext cx="8473759" cy="805323"/>
          </a:xfrm>
        </p:spPr>
        <p:txBody>
          <a:bodyPr>
            <a:normAutofit/>
          </a:bodyPr>
          <a:lstStyle/>
          <a:p>
            <a:r>
              <a:rPr lang="en-SG" sz="2800" b="1" dirty="0"/>
              <a:t>Lesson learn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150E-A6FC-CE05-E836-945D418C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4" y="1223167"/>
            <a:ext cx="11077786" cy="5332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1 ) ML model used</a:t>
            </a:r>
          </a:p>
          <a:p>
            <a:r>
              <a:rPr lang="en-US" sz="1400" dirty="0"/>
              <a:t>Supervised Learning (</a:t>
            </a:r>
            <a:r>
              <a:rPr lang="en-US" sz="1400" dirty="0" err="1"/>
              <a:t>XGBoost</a:t>
            </a:r>
            <a:r>
              <a:rPr lang="en-US" sz="1400" dirty="0"/>
              <a:t>/Random Forest/</a:t>
            </a:r>
            <a:r>
              <a:rPr lang="en-US" sz="1400" dirty="0" err="1"/>
              <a:t>XGBBoost</a:t>
            </a:r>
            <a:r>
              <a:rPr lang="en-US" sz="1400" dirty="0"/>
              <a:t>/</a:t>
            </a:r>
            <a:r>
              <a:rPr lang="en-US" sz="1400" dirty="0" err="1"/>
              <a:t>LightGBM,CatBoost</a:t>
            </a:r>
            <a:r>
              <a:rPr lang="en-US" sz="1400" dirty="0"/>
              <a:t>, LSTM, Prophet, Weighted Ensemble for multiple model)</a:t>
            </a:r>
          </a:p>
          <a:p>
            <a:r>
              <a:rPr lang="en-US" sz="1400" dirty="0"/>
              <a:t>Unsupervised Learning (K-Means, GMM, DBSCAN, HDBSCAN)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2 ) Data Leak, </a:t>
            </a:r>
            <a:r>
              <a:rPr lang="en-SG" sz="1400" dirty="0"/>
              <a:t>Feature Redundancy, </a:t>
            </a:r>
            <a:r>
              <a:rPr lang="en-US" sz="1400" dirty="0"/>
              <a:t>Overfitting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3 ) Testing Strategy (Sampling, Time series testing)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  <a:defRPr sz="1400">
                <a:solidFill>
                  <a:srgbClr val="000000"/>
                </a:solidFill>
              </a:defRP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493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5986</TotalTime>
  <Words>1932</Words>
  <Application>Microsoft Office PowerPoint</Application>
  <PresentationFormat>Widescreen</PresentationFormat>
  <Paragraphs>491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menlo</vt:lpstr>
      <vt:lpstr>Wingdings</vt:lpstr>
      <vt:lpstr>Office Theme</vt:lpstr>
      <vt:lpstr>Singapore HDB Resale Price Analysis   Capstone 2 Project - Data Analytics with AI </vt:lpstr>
      <vt:lpstr>Background</vt:lpstr>
      <vt:lpstr>Problem statements</vt:lpstr>
      <vt:lpstr>Solution Proposal</vt:lpstr>
      <vt:lpstr>Data Product Design (Prototype)</vt:lpstr>
      <vt:lpstr>System Architecture </vt:lpstr>
      <vt:lpstr>Data Source</vt:lpstr>
      <vt:lpstr>Data Preprocessing</vt:lpstr>
      <vt:lpstr>Data Transformation</vt:lpstr>
      <vt:lpstr>ML training – Price Estimator </vt:lpstr>
      <vt:lpstr>ML training – Market Segmentation (1/3)</vt:lpstr>
      <vt:lpstr>ML training – Market Segmentation (2/3)</vt:lpstr>
      <vt:lpstr>ML training – Market Segmentation (3/3)</vt:lpstr>
      <vt:lpstr>ML training – Forecasting (1/3)</vt:lpstr>
      <vt:lpstr>ML training – Forecasting (2/3)</vt:lpstr>
      <vt:lpstr>ML training – Forecasting (3/3)</vt:lpstr>
      <vt:lpstr>Lesson learn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ONG BEE YIAN</dc:creator>
  <cp:lastModifiedBy>ONG BEE YIAN</cp:lastModifiedBy>
  <cp:revision>161</cp:revision>
  <dcterms:created xsi:type="dcterms:W3CDTF">2025-07-28T03:53:11Z</dcterms:created>
  <dcterms:modified xsi:type="dcterms:W3CDTF">2025-09-30T05:13:29Z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